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572000" cy="4572000"/>
          </a:xfrm>
          <a:prstGeom prst="ellipse">
            <a:avLst/>
          </a:prstGeom>
          <a:solidFill>
            <a:srgbClr val="2E393C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2E393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91440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874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WORKSHOP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77240" y="2286000"/>
            <a:ext cx="9144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&amp; GitHub</a:t>
            </a:r>
            <a:endParaRPr lang="en-US" sz="5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Beginners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822960" y="43434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first commit to your first pull request — a hands-on 60-minute introduction.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5212080"/>
            <a:ext cx="1568196" cy="384048"/>
          </a:xfrm>
          <a:prstGeom prst="roundRect">
            <a:avLst>
              <a:gd name="adj" fmla="val 19048"/>
            </a:avLst>
          </a:prstGeom>
          <a:solidFill>
            <a:srgbClr val="2E393C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5212080"/>
            <a:ext cx="15681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Commits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574036" y="5212080"/>
            <a:ext cx="1184148" cy="384048"/>
          </a:xfrm>
          <a:prstGeom prst="roundRect">
            <a:avLst>
              <a:gd name="adj" fmla="val 19048"/>
            </a:avLst>
          </a:prstGeom>
          <a:solidFill>
            <a:srgbClr val="2E393C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74036" y="5212080"/>
            <a:ext cx="11841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941064" y="5212080"/>
            <a:ext cx="896112" cy="384048"/>
          </a:xfrm>
          <a:prstGeom prst="roundRect">
            <a:avLst>
              <a:gd name="adj" fmla="val 19048"/>
            </a:avLst>
          </a:prstGeom>
          <a:solidFill>
            <a:srgbClr val="2E393C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941064" y="5212080"/>
            <a:ext cx="8961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020056" y="5212080"/>
            <a:ext cx="1568196" cy="384048"/>
          </a:xfrm>
          <a:prstGeom prst="roundRect">
            <a:avLst>
              <a:gd name="adj" fmla="val 19048"/>
            </a:avLst>
          </a:prstGeom>
          <a:solidFill>
            <a:srgbClr val="2E393C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0056" y="5212080"/>
            <a:ext cx="15681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SESSION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 in 60 minutes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212B2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5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89280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21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version control?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77240" y="26974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Git solves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25112" y="169164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53712" y="1920240"/>
            <a:ext cx="502920" cy="502920"/>
          </a:xfrm>
          <a:prstGeom prst="ellipse">
            <a:avLst/>
          </a:prstGeom>
          <a:solidFill>
            <a:srgbClr val="212B2E"/>
          </a:solidFill>
          <a:ln/>
        </p:spPr>
      </p:sp>
      <p:sp>
        <p:nvSpPr>
          <p:cNvPr id="11" name="Text 9"/>
          <p:cNvSpPr/>
          <p:nvPr/>
        </p:nvSpPr>
        <p:spPr>
          <a:xfrm>
            <a:off x="4553712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5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193792" y="189280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21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vs. GitHub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553712" y="26974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tools, one workflow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01584" y="169164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30184" y="1920240"/>
            <a:ext cx="502920" cy="502920"/>
          </a:xfrm>
          <a:prstGeom prst="ellipse">
            <a:avLst/>
          </a:prstGeom>
          <a:solidFill>
            <a:srgbClr val="212B2E"/>
          </a:solidFill>
          <a:ln/>
        </p:spPr>
      </p:sp>
      <p:sp>
        <p:nvSpPr>
          <p:cNvPr id="16" name="Text 14"/>
          <p:cNvSpPr/>
          <p:nvPr/>
        </p:nvSpPr>
        <p:spPr>
          <a:xfrm>
            <a:off x="8330184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5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970264" y="189280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21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local workflow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330184" y="26974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→ add → commit → log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160520"/>
            <a:ext cx="502920" cy="502920"/>
          </a:xfrm>
          <a:prstGeom prst="ellipse">
            <a:avLst/>
          </a:prstGeom>
          <a:solidFill>
            <a:srgbClr val="212B2E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5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17320" y="413308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21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 &amp; merging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77240" y="493776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on features safely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25112" y="393192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53712" y="4160520"/>
            <a:ext cx="502920" cy="502920"/>
          </a:xfrm>
          <a:prstGeom prst="ellipse">
            <a:avLst/>
          </a:prstGeom>
          <a:solidFill>
            <a:srgbClr val="212B2E"/>
          </a:solidFill>
          <a:ln/>
        </p:spPr>
      </p:sp>
      <p:sp>
        <p:nvSpPr>
          <p:cNvPr id="26" name="Text 24"/>
          <p:cNvSpPr/>
          <p:nvPr/>
        </p:nvSpPr>
        <p:spPr>
          <a:xfrm>
            <a:off x="4553712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5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193792" y="413308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21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Pushing to GitHub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4553712" y="493776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your code remotely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101584" y="393192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30184" y="4160520"/>
            <a:ext cx="502920" cy="502920"/>
          </a:xfrm>
          <a:prstGeom prst="ellipse">
            <a:avLst/>
          </a:prstGeom>
          <a:solidFill>
            <a:srgbClr val="212B2E"/>
          </a:solidFill>
          <a:ln/>
        </p:spPr>
      </p:sp>
      <p:sp>
        <p:nvSpPr>
          <p:cNvPr id="31" name="Text 29"/>
          <p:cNvSpPr/>
          <p:nvPr/>
        </p:nvSpPr>
        <p:spPr>
          <a:xfrm>
            <a:off x="8330184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5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970264" y="413308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21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8330184" y="493776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teams collaborate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Workshop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BOTHER?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 before version control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probably done this already: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42062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D8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0574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essay.docx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58368" y="2624328"/>
            <a:ext cx="42062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D8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262432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essay_final.docx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68096" y="3191256"/>
            <a:ext cx="42062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D8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" y="3191256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essay_final_v2.docx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77824" y="3758184"/>
            <a:ext cx="42062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D8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14984" y="3758184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essay_final_v2_ACTUAL_FINAL.docx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87552" y="4325112"/>
            <a:ext cx="4206240" cy="457200"/>
          </a:xfrm>
          <a:prstGeom prst="roundRect">
            <a:avLst>
              <a:gd name="adj" fmla="val 12000"/>
            </a:avLst>
          </a:prstGeom>
          <a:solidFill>
            <a:srgbClr val="F05033"/>
          </a:solidFill>
          <a:ln w="12700">
            <a:solidFill>
              <a:srgbClr val="D8D8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24712" y="432511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essay_final_v2_ACTUAL_FINAL_useThisOne.docx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35040" y="1554480"/>
            <a:ext cx="5577840" cy="4480560"/>
          </a:xfrm>
          <a:prstGeom prst="roundRect">
            <a:avLst>
              <a:gd name="adj" fmla="val 2041"/>
            </a:avLst>
          </a:prstGeom>
          <a:solidFill>
            <a:srgbClr val="212B2E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828800"/>
            <a:ext cx="457200" cy="4572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949440" y="1828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Instead, Git gives you: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355080" y="2560320"/>
            <a:ext cx="128016" cy="128016"/>
          </a:xfrm>
          <a:prstGeom prst="ellipse">
            <a:avLst/>
          </a:prstGeom>
          <a:solidFill>
            <a:srgbClr val="F05033"/>
          </a:solidFill>
          <a:ln/>
        </p:spPr>
      </p:sp>
      <p:sp>
        <p:nvSpPr>
          <p:cNvPr id="19" name="Text 16"/>
          <p:cNvSpPr/>
          <p:nvPr/>
        </p:nvSpPr>
        <p:spPr>
          <a:xfrm>
            <a:off x="6629400" y="2404872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folder, infinite history — every saved version is kept automatically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355080" y="3456432"/>
            <a:ext cx="128016" cy="128016"/>
          </a:xfrm>
          <a:prstGeom prst="ellipse">
            <a:avLst/>
          </a:prstGeom>
          <a:solidFill>
            <a:srgbClr val="F05033"/>
          </a:solidFill>
          <a:ln/>
        </p:spPr>
      </p:sp>
      <p:sp>
        <p:nvSpPr>
          <p:cNvPr id="21" name="Text 18"/>
          <p:cNvSpPr/>
          <p:nvPr/>
        </p:nvSpPr>
        <p:spPr>
          <a:xfrm>
            <a:off x="6629400" y="3300984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experimentation — try things on a branch without breaking your working code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355080" y="4352544"/>
            <a:ext cx="128016" cy="128016"/>
          </a:xfrm>
          <a:prstGeom prst="ellipse">
            <a:avLst/>
          </a:prstGeom>
          <a:solidFill>
            <a:srgbClr val="F05033"/>
          </a:solidFill>
          <a:ln/>
        </p:spPr>
      </p:sp>
      <p:sp>
        <p:nvSpPr>
          <p:cNvPr id="23" name="Text 20"/>
          <p:cNvSpPr/>
          <p:nvPr/>
        </p:nvSpPr>
        <p:spPr>
          <a:xfrm>
            <a:off x="6629400" y="4197096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audit trail — see exactly what changed, when, and who changed it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6355080" y="5248656"/>
            <a:ext cx="128016" cy="128016"/>
          </a:xfrm>
          <a:prstGeom prst="ellipse">
            <a:avLst/>
          </a:prstGeom>
          <a:solidFill>
            <a:srgbClr val="F05033"/>
          </a:solidFill>
          <a:ln/>
        </p:spPr>
      </p:sp>
      <p:sp>
        <p:nvSpPr>
          <p:cNvPr id="25" name="Text 22"/>
          <p:cNvSpPr/>
          <p:nvPr/>
        </p:nvSpPr>
        <p:spPr>
          <a:xfrm>
            <a:off x="6629400" y="5093208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collaboration — multiple people can work on the same project without overwriting each other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Workshop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TOOLS, ONE WORKFLOW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vs. GitHub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65960"/>
            <a:ext cx="685800" cy="68580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1488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116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68680" y="269748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version control tool that runs on YOUR computer.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68680" y="33832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Installed locally, works offline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8680" y="38862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Tracks every change to your files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68680" y="43891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Records history as “commits”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68680" y="48920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 internet required to use it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217920" y="1691640"/>
            <a:ext cx="5394960" cy="4297680"/>
          </a:xfrm>
          <a:prstGeom prst="roundRect">
            <a:avLst>
              <a:gd name="adj" fmla="val 2128"/>
            </a:avLst>
          </a:prstGeom>
          <a:solidFill>
            <a:srgbClr val="212B2E"/>
          </a:solidFill>
          <a:ln/>
        </p:spPr>
      </p:sp>
      <p:sp>
        <p:nvSpPr>
          <p:cNvPr id="14" name="Shape 11"/>
          <p:cNvSpPr/>
          <p:nvPr/>
        </p:nvSpPr>
        <p:spPr>
          <a:xfrm>
            <a:off x="6537960" y="196596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14884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360920" y="20116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6537960" y="269748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website that hosts Git repositories in the cloud.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537960" y="33832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Backs up your repo online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6537960" y="38862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Lets others see &amp; download your code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6537960" y="43891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Adds pull requests, issues, reviews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537960" y="48920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Where teams collaborate together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this way: Git is the engine that tracks changes; GitHub is the online garage where you park and share your project.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Workshop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GIT ACTUALLY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areas on your computer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3383280" cy="374904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65960" y="2011680"/>
            <a:ext cx="822960" cy="822960"/>
          </a:xfrm>
          <a:prstGeom prst="ellipse">
            <a:avLst/>
          </a:prstGeom>
          <a:solidFill>
            <a:srgbClr val="212B2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6272" y="222199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0175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Directory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1554480" y="3474720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E9E9E6"/>
          </a:solidFill>
          <a:ln/>
        </p:spPr>
      </p:sp>
      <p:sp>
        <p:nvSpPr>
          <p:cNvPr id="9" name="Text 6"/>
          <p:cNvSpPr/>
          <p:nvPr/>
        </p:nvSpPr>
        <p:spPr>
          <a:xfrm>
            <a:off x="1554480" y="3474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you edit files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60120" y="402336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folder on your computer — create, edit, delete files here.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123944" y="3246120"/>
            <a:ext cx="3931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05033"/>
                </a:solidFill>
              </a:rPr>
              <a:t>→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4572000" y="1691640"/>
            <a:ext cx="3383280" cy="3749040"/>
          </a:xfrm>
          <a:prstGeom prst="roundRect">
            <a:avLst>
              <a:gd name="adj" fmla="val 2703"/>
            </a:avLst>
          </a:prstGeom>
          <a:solidFill>
            <a:srgbClr val="212B2E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852160" y="201168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2472" y="2221992"/>
            <a:ext cx="402336" cy="40233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754880" y="30175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Staging Area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5440680" y="3474720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5440680" y="3474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846320" y="402336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holding area where you pick exactly which changes go into the next commit.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8010144" y="3246120"/>
            <a:ext cx="3931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05033"/>
                </a:solidFill>
              </a:rPr>
              <a:t>→</a:t>
            </a:r>
            <a:endParaRPr lang="en-US" sz="3000" dirty="0"/>
          </a:p>
        </p:txBody>
      </p:sp>
      <p:sp>
        <p:nvSpPr>
          <p:cNvPr id="20" name="Shape 16"/>
          <p:cNvSpPr/>
          <p:nvPr/>
        </p:nvSpPr>
        <p:spPr>
          <a:xfrm>
            <a:off x="8458200" y="1691640"/>
            <a:ext cx="3383280" cy="3749040"/>
          </a:xfrm>
          <a:prstGeom prst="roundRect">
            <a:avLst>
              <a:gd name="adj" fmla="val 2703"/>
            </a:avLst>
          </a:prstGeom>
          <a:solidFill>
            <a:srgbClr val="F05033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9738360" y="201168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8672" y="2221992"/>
            <a:ext cx="402336" cy="40233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641080" y="30175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</a:t>
            </a:r>
            <a:endParaRPr lang="en-US" sz="1700" dirty="0"/>
          </a:p>
        </p:txBody>
      </p:sp>
      <p:sp>
        <p:nvSpPr>
          <p:cNvPr id="24" name="Shape 19"/>
          <p:cNvSpPr/>
          <p:nvPr/>
        </p:nvSpPr>
        <p:spPr>
          <a:xfrm>
            <a:off x="9326880" y="3474720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25" name="Text 20"/>
          <p:cNvSpPr/>
          <p:nvPr/>
        </p:nvSpPr>
        <p:spPr>
          <a:xfrm>
            <a:off x="9326880" y="3474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8732520" y="402336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permanent, saved history of your project — every commit lives here.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Workshop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SET 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&amp; configure Git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212080" cy="4343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202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965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Check / install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8680" y="2514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terminal and check whether Git is already installed: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68680" y="2880360"/>
            <a:ext cx="4526280" cy="457200"/>
          </a:xfrm>
          <a:prstGeom prst="roundRect">
            <a:avLst>
              <a:gd name="adj" fmla="val 10000"/>
            </a:avLst>
          </a:prstGeom>
          <a:solidFill>
            <a:srgbClr val="212B2E"/>
          </a:solidFill>
          <a:ln/>
        </p:spPr>
      </p:sp>
      <p:sp>
        <p:nvSpPr>
          <p:cNvPr id="9" name="Text 6"/>
          <p:cNvSpPr/>
          <p:nvPr/>
        </p:nvSpPr>
        <p:spPr>
          <a:xfrm>
            <a:off x="1051560" y="28803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--version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8680" y="34747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missing, download the installer from git-scm.com — available for Windows, macOS, and Linux.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68680" y="41148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Identify yourself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68680" y="4526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commit is stamped with a name and email — set these once per machine: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68680" y="4983480"/>
            <a:ext cx="4526280" cy="868680"/>
          </a:xfrm>
          <a:prstGeom prst="roundRect">
            <a:avLst>
              <a:gd name="adj" fmla="val 5263"/>
            </a:avLst>
          </a:prstGeom>
          <a:solidFill>
            <a:srgbClr val="212B2E"/>
          </a:solidFill>
          <a:ln/>
        </p:spPr>
      </p:sp>
      <p:sp>
        <p:nvSpPr>
          <p:cNvPr id="14" name="Text 11"/>
          <p:cNvSpPr/>
          <p:nvPr/>
        </p:nvSpPr>
        <p:spPr>
          <a:xfrm>
            <a:off x="1051560" y="502920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user.name "Your Name"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user.email "you@email.com"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035040" y="1645920"/>
            <a:ext cx="5577840" cy="4343400"/>
          </a:xfrm>
          <a:prstGeom prst="roundRect">
            <a:avLst>
              <a:gd name="adj" fmla="val 2105"/>
            </a:avLst>
          </a:prstGeom>
          <a:solidFill>
            <a:srgbClr val="212B2E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920240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94944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 to know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6355080" y="2651760"/>
            <a:ext cx="128016" cy="128016"/>
          </a:xfrm>
          <a:prstGeom prst="ellipse">
            <a:avLst/>
          </a:prstGeom>
          <a:solidFill>
            <a:srgbClr val="F05033"/>
          </a:solidFill>
          <a:ln/>
        </p:spPr>
      </p:sp>
      <p:sp>
        <p:nvSpPr>
          <p:cNvPr id="19" name="Text 15"/>
          <p:cNvSpPr/>
          <p:nvPr/>
        </p:nvSpPr>
        <p:spPr>
          <a:xfrm>
            <a:off x="6629400" y="2496312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only configure your name/email once per computer — not per project.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6355080" y="3566160"/>
            <a:ext cx="128016" cy="128016"/>
          </a:xfrm>
          <a:prstGeom prst="ellipse">
            <a:avLst/>
          </a:prstGeom>
          <a:solidFill>
            <a:srgbClr val="F05033"/>
          </a:solidFill>
          <a:ln/>
        </p:spPr>
      </p:sp>
      <p:sp>
        <p:nvSpPr>
          <p:cNvPr id="21" name="Text 17"/>
          <p:cNvSpPr/>
          <p:nvPr/>
        </p:nvSpPr>
        <p:spPr>
          <a:xfrm>
            <a:off x="6629400" y="3410712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has Git built in — you can do most of this workshop from its Source Control tab instead of the terminal.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6355080" y="4480560"/>
            <a:ext cx="128016" cy="128016"/>
          </a:xfrm>
          <a:prstGeom prst="ellipse">
            <a:avLst/>
          </a:prstGeom>
          <a:solidFill>
            <a:srgbClr val="F05033"/>
          </a:solidFill>
          <a:ln/>
        </p:spPr>
      </p:sp>
      <p:sp>
        <p:nvSpPr>
          <p:cNvPr id="23" name="Text 19"/>
          <p:cNvSpPr/>
          <p:nvPr/>
        </p:nvSpPr>
        <p:spPr>
          <a:xfrm>
            <a:off x="6629400" y="4325112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Desktop is a friendly GUI alternative if the command line feels intimidating at first.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6355080" y="5394960"/>
            <a:ext cx="128016" cy="128016"/>
          </a:xfrm>
          <a:prstGeom prst="ellipse">
            <a:avLst/>
          </a:prstGeom>
          <a:solidFill>
            <a:srgbClr val="F05033"/>
          </a:solidFill>
          <a:ln/>
        </p:spPr>
      </p:sp>
      <p:sp>
        <p:nvSpPr>
          <p:cNvPr id="25" name="Text 21"/>
          <p:cNvSpPr/>
          <p:nvPr/>
        </p:nvSpPr>
        <p:spPr>
          <a:xfrm>
            <a:off x="6629400" y="5239512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GitHub account (github.com) is all you need to follow along today.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Workshop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EVERYDAY LOOP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local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47088"/>
            <a:ext cx="402336" cy="402336"/>
          </a:xfrm>
          <a:prstGeom prst="ellipse">
            <a:avLst/>
          </a:prstGeom>
          <a:solidFill>
            <a:srgbClr val="F0503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4708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25880" y="1801368"/>
            <a:ext cx="3200400" cy="493776"/>
          </a:xfrm>
          <a:prstGeom prst="roundRect">
            <a:avLst>
              <a:gd name="adj" fmla="val 9259"/>
            </a:avLst>
          </a:prstGeom>
          <a:solidFill>
            <a:srgbClr val="212B2E"/>
          </a:solidFill>
          <a:ln/>
        </p:spPr>
      </p:sp>
      <p:sp>
        <p:nvSpPr>
          <p:cNvPr id="8" name="Text 6"/>
          <p:cNvSpPr/>
          <p:nvPr/>
        </p:nvSpPr>
        <p:spPr>
          <a:xfrm>
            <a:off x="1325880" y="1801368"/>
            <a:ext cx="3200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1691640"/>
            <a:ext cx="6675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1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 folder into a Git repository (do this once per project)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532888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2688336"/>
            <a:ext cx="402336" cy="402336"/>
          </a:xfrm>
          <a:prstGeom prst="ellipse">
            <a:avLst/>
          </a:prstGeom>
          <a:solidFill>
            <a:srgbClr val="F05033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68833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325880" y="2642616"/>
            <a:ext cx="3200400" cy="493776"/>
          </a:xfrm>
          <a:prstGeom prst="roundRect">
            <a:avLst>
              <a:gd name="adj" fmla="val 9259"/>
            </a:avLst>
          </a:prstGeom>
          <a:solidFill>
            <a:srgbClr val="212B2E"/>
          </a:solidFill>
          <a:ln/>
        </p:spPr>
      </p:sp>
      <p:sp>
        <p:nvSpPr>
          <p:cNvPr id="14" name="Text 12"/>
          <p:cNvSpPr/>
          <p:nvPr/>
        </p:nvSpPr>
        <p:spPr>
          <a:xfrm>
            <a:off x="1325880" y="2642616"/>
            <a:ext cx="3200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2532888"/>
            <a:ext cx="6675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1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what's changed — check this constantly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3374136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529584"/>
            <a:ext cx="402336" cy="402336"/>
          </a:xfrm>
          <a:prstGeom prst="ellipse">
            <a:avLst/>
          </a:prstGeom>
          <a:solidFill>
            <a:srgbClr val="F05033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52958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325880" y="3483864"/>
            <a:ext cx="3200400" cy="493776"/>
          </a:xfrm>
          <a:prstGeom prst="roundRect">
            <a:avLst>
              <a:gd name="adj" fmla="val 9259"/>
            </a:avLst>
          </a:prstGeom>
          <a:solidFill>
            <a:srgbClr val="212B2E"/>
          </a:solidFill>
          <a:ln/>
        </p:spPr>
      </p:sp>
      <p:sp>
        <p:nvSpPr>
          <p:cNvPr id="20" name="Text 18"/>
          <p:cNvSpPr/>
          <p:nvPr/>
        </p:nvSpPr>
        <p:spPr>
          <a:xfrm>
            <a:off x="1325880" y="3483864"/>
            <a:ext cx="3200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54880" y="3374136"/>
            <a:ext cx="6675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1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the changes you want to save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4215384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1520" y="4370832"/>
            <a:ext cx="402336" cy="402336"/>
          </a:xfrm>
          <a:prstGeom prst="ellipse">
            <a:avLst/>
          </a:prstGeom>
          <a:solidFill>
            <a:srgbClr val="F05033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3708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325880" y="4325112"/>
            <a:ext cx="3200400" cy="493776"/>
          </a:xfrm>
          <a:prstGeom prst="roundRect">
            <a:avLst>
              <a:gd name="adj" fmla="val 9259"/>
            </a:avLst>
          </a:prstGeom>
          <a:solidFill>
            <a:srgbClr val="212B2E"/>
          </a:solidFill>
          <a:ln/>
        </p:spPr>
      </p:sp>
      <p:sp>
        <p:nvSpPr>
          <p:cNvPr id="26" name="Text 24"/>
          <p:cNvSpPr/>
          <p:nvPr/>
        </p:nvSpPr>
        <p:spPr>
          <a:xfrm>
            <a:off x="1325880" y="4325112"/>
            <a:ext cx="3200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"message"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54880" y="4215384"/>
            <a:ext cx="6675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1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 snapshot with a clear description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48640" y="5056632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31520" y="5212080"/>
            <a:ext cx="402336" cy="402336"/>
          </a:xfrm>
          <a:prstGeom prst="ellipse">
            <a:avLst/>
          </a:prstGeom>
          <a:solidFill>
            <a:srgbClr val="F05033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52120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1325880" y="5166360"/>
            <a:ext cx="3200400" cy="493776"/>
          </a:xfrm>
          <a:prstGeom prst="roundRect">
            <a:avLst>
              <a:gd name="adj" fmla="val 9259"/>
            </a:avLst>
          </a:prstGeom>
          <a:solidFill>
            <a:srgbClr val="212B2E"/>
          </a:solidFill>
          <a:ln/>
        </p:spPr>
      </p:sp>
      <p:sp>
        <p:nvSpPr>
          <p:cNvPr id="32" name="Text 30"/>
          <p:cNvSpPr/>
          <p:nvPr/>
        </p:nvSpPr>
        <p:spPr>
          <a:xfrm>
            <a:off x="1325880" y="5166360"/>
            <a:ext cx="3200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754880" y="5056632"/>
            <a:ext cx="6675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1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project's commit history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Workshop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REPOS CLEAN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.gitignore file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everything belongs in version control. A .gitignore file tells Git which files or folders to always skip.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things to ignore: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3026664"/>
            <a:ext cx="118872" cy="118872"/>
          </a:xfrm>
          <a:prstGeom prst="ellipse">
            <a:avLst/>
          </a:prstGeom>
          <a:solidFill>
            <a:srgbClr val="F05033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8803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folders (node_modules/, venv/)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3557016"/>
            <a:ext cx="118872" cy="118872"/>
          </a:xfrm>
          <a:prstGeom prst="ellipse">
            <a:avLst/>
          </a:prstGeom>
          <a:solidFill>
            <a:srgbClr val="F05033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41071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output (dist/, build/, *.class)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4360" y="4087368"/>
            <a:ext cx="118872" cy="118872"/>
          </a:xfrm>
          <a:prstGeom prst="ellipse">
            <a:avLst/>
          </a:prstGeom>
          <a:solidFill>
            <a:srgbClr val="F05033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941064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&amp; credentials (.env, API keys)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4360" y="4617720"/>
            <a:ext cx="118872" cy="118872"/>
          </a:xfrm>
          <a:prstGeom prst="ellipse">
            <a:avLst/>
          </a:prstGeom>
          <a:solidFill>
            <a:srgbClr val="F05033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471416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OS/editor clutter (.DS_Store, .vscode/)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09360" y="1600200"/>
            <a:ext cx="5303520" cy="4114800"/>
          </a:xfrm>
          <a:prstGeom prst="roundRect">
            <a:avLst>
              <a:gd name="adj" fmla="val 2222"/>
            </a:avLst>
          </a:prstGeom>
          <a:solidFill>
            <a:srgbClr val="212B2E"/>
          </a:solidFill>
          <a:ln/>
        </p:spPr>
      </p:sp>
      <p:sp>
        <p:nvSpPr>
          <p:cNvPr id="15" name="Shape 13"/>
          <p:cNvSpPr/>
          <p:nvPr/>
        </p:nvSpPr>
        <p:spPr>
          <a:xfrm>
            <a:off x="6309360" y="1600200"/>
            <a:ext cx="5303520" cy="384048"/>
          </a:xfrm>
          <a:prstGeom prst="rect">
            <a:avLst/>
          </a:prstGeom>
          <a:solidFill>
            <a:srgbClr val="2E393C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160020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5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.gitignore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37960" y="2194560"/>
            <a:ext cx="4846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node_modules/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dist/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*.log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.DS_Store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__pycache__/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.vscode/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59436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this file to your repo BEFORE your first commit so ignored files never get tracked in the first place.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Workshop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SAFELY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Branching: parallel versions of your project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branch is an independent line of work. The main branch stays stable while you experiment on a feature branch.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3017520"/>
            <a:ext cx="10332720" cy="0"/>
          </a:xfrm>
          <a:prstGeom prst="line">
            <a:avLst/>
          </a:prstGeom>
          <a:noFill/>
          <a:ln w="38100">
            <a:solidFill>
              <a:srgbClr val="212B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" y="2916936"/>
            <a:ext cx="201168" cy="201168"/>
          </a:xfrm>
          <a:prstGeom prst="ellipse">
            <a:avLst/>
          </a:prstGeom>
          <a:solidFill>
            <a:srgbClr val="212B2E"/>
          </a:solidFill>
          <a:ln/>
        </p:spPr>
      </p:sp>
      <p:sp>
        <p:nvSpPr>
          <p:cNvPr id="7" name="Shape 5"/>
          <p:cNvSpPr/>
          <p:nvPr/>
        </p:nvSpPr>
        <p:spPr>
          <a:xfrm>
            <a:off x="2825496" y="2916936"/>
            <a:ext cx="201168" cy="201168"/>
          </a:xfrm>
          <a:prstGeom prst="ellipse">
            <a:avLst/>
          </a:prstGeom>
          <a:solidFill>
            <a:srgbClr val="212B2E"/>
          </a:solidFill>
          <a:ln/>
        </p:spPr>
      </p:sp>
      <p:sp>
        <p:nvSpPr>
          <p:cNvPr id="8" name="Shape 6"/>
          <p:cNvSpPr/>
          <p:nvPr/>
        </p:nvSpPr>
        <p:spPr>
          <a:xfrm>
            <a:off x="10872216" y="2916936"/>
            <a:ext cx="201168" cy="201168"/>
          </a:xfrm>
          <a:prstGeom prst="ellipse">
            <a:avLst/>
          </a:prstGeom>
          <a:solidFill>
            <a:srgbClr val="212B2E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5603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926080" y="3017520"/>
            <a:ext cx="0" cy="1280160"/>
          </a:xfrm>
          <a:prstGeom prst="line">
            <a:avLst/>
          </a:prstGeom>
          <a:noFill/>
          <a:ln w="38100">
            <a:solidFill>
              <a:srgbClr val="F05033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2926080" y="4297680"/>
            <a:ext cx="7772400" cy="0"/>
          </a:xfrm>
          <a:prstGeom prst="line">
            <a:avLst/>
          </a:prstGeom>
          <a:noFill/>
          <a:ln w="38100">
            <a:solidFill>
              <a:srgbClr val="F050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22776" y="4197096"/>
            <a:ext cx="201168" cy="201168"/>
          </a:xfrm>
          <a:prstGeom prst="ellipse">
            <a:avLst/>
          </a:prstGeom>
          <a:solidFill>
            <a:srgbClr val="F05033"/>
          </a:solidFill>
          <a:ln/>
        </p:spPr>
      </p:sp>
      <p:sp>
        <p:nvSpPr>
          <p:cNvPr id="13" name="Shape 11"/>
          <p:cNvSpPr/>
          <p:nvPr/>
        </p:nvSpPr>
        <p:spPr>
          <a:xfrm>
            <a:off x="5202936" y="4197096"/>
            <a:ext cx="201168" cy="201168"/>
          </a:xfrm>
          <a:prstGeom prst="ellipse">
            <a:avLst/>
          </a:prstGeom>
          <a:solidFill>
            <a:srgbClr val="F05033"/>
          </a:solidFill>
          <a:ln/>
        </p:spPr>
      </p:sp>
      <p:sp>
        <p:nvSpPr>
          <p:cNvPr id="14" name="Shape 12"/>
          <p:cNvSpPr/>
          <p:nvPr/>
        </p:nvSpPr>
        <p:spPr>
          <a:xfrm>
            <a:off x="10323576" y="4197096"/>
            <a:ext cx="201168" cy="201168"/>
          </a:xfrm>
          <a:prstGeom prst="ellipse">
            <a:avLst/>
          </a:prstGeom>
          <a:solidFill>
            <a:srgbClr val="F05033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0" y="45537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4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feature/login-page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424160" y="4297680"/>
            <a:ext cx="548640" cy="-128016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44200" y="36118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50292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212B2E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feature/login-page  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6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create a branch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-b feature/login-page  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6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create AND switch, in one step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Workshop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WORK TOGETHER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Merging branches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your feature is done and tested, bring it back into main: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322576"/>
            <a:ext cx="4023360" cy="521208"/>
          </a:xfrm>
          <a:prstGeom prst="roundRect">
            <a:avLst>
              <a:gd name="adj" fmla="val 8772"/>
            </a:avLst>
          </a:prstGeom>
          <a:solidFill>
            <a:srgbClr val="212B2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322576"/>
            <a:ext cx="402336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main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983480" y="2194560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back to the branch you want to update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3236976"/>
            <a:ext cx="4023360" cy="521208"/>
          </a:xfrm>
          <a:prstGeom prst="roundRect">
            <a:avLst>
              <a:gd name="adj" fmla="val 8772"/>
            </a:avLst>
          </a:prstGeom>
          <a:solidFill>
            <a:srgbClr val="212B2E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236976"/>
            <a:ext cx="402336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983480" y="3108960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sure main is up to date first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151376"/>
            <a:ext cx="4023360" cy="521208"/>
          </a:xfrm>
          <a:prstGeom prst="roundRect">
            <a:avLst>
              <a:gd name="adj" fmla="val 8772"/>
            </a:avLst>
          </a:prstGeom>
          <a:solidFill>
            <a:srgbClr val="212B2E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151376"/>
            <a:ext cx="402336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 feature/login-page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983480" y="4023360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the feature branch's changes into main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507492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DECEA"/>
          </a:solidFill>
          <a:ln w="12700">
            <a:solidFill>
              <a:srgbClr val="F05033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349240"/>
            <a:ext cx="457200" cy="4572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417320" y="5166360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A2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conflicts happen when the same lines were changed on both branches.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A2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will pause and mark the conflicting lines in the file — you edit the file to pick the right content, then git add and git commit to finish the merge. It's normal, not a mistake!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Workshop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REMOTE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Connecting to GitHub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411480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11680"/>
            <a:ext cx="640080" cy="640080"/>
          </a:xfrm>
          <a:prstGeom prst="ellipse">
            <a:avLst/>
          </a:prstGeom>
          <a:solidFill>
            <a:srgbClr val="212B2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17627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7889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a repository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822960" y="3383280"/>
            <a:ext cx="3017520" cy="822960"/>
          </a:xfrm>
          <a:prstGeom prst="roundRect">
            <a:avLst>
              <a:gd name="adj" fmla="val 5556"/>
            </a:avLst>
          </a:prstGeom>
          <a:solidFill>
            <a:srgbClr val="F0F0EE"/>
          </a:solidFill>
          <a:ln/>
        </p:spPr>
      </p:sp>
      <p:sp>
        <p:nvSpPr>
          <p:cNvPr id="9" name="Text 6"/>
          <p:cNvSpPr/>
          <p:nvPr/>
        </p:nvSpPr>
        <p:spPr>
          <a:xfrm>
            <a:off x="960120" y="34290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github.com, click New repository and give it a name.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133088" y="3520440"/>
            <a:ext cx="1463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5033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4297680" y="1737360"/>
            <a:ext cx="3566160" cy="411480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0" y="2011680"/>
            <a:ext cx="640080" cy="640080"/>
          </a:xfrm>
          <a:prstGeom prst="ellipse">
            <a:avLst/>
          </a:prstGeom>
          <a:solidFill>
            <a:srgbClr val="212B2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2176272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72000" y="27889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 it to your project</a:t>
            </a:r>
            <a:endParaRPr lang="en-US" sz="1550" dirty="0"/>
          </a:p>
        </p:txBody>
      </p:sp>
      <p:sp>
        <p:nvSpPr>
          <p:cNvPr id="15" name="Shape 11"/>
          <p:cNvSpPr/>
          <p:nvPr/>
        </p:nvSpPr>
        <p:spPr>
          <a:xfrm>
            <a:off x="4572000" y="3383280"/>
            <a:ext cx="3017520" cy="777240"/>
          </a:xfrm>
          <a:prstGeom prst="roundRect">
            <a:avLst>
              <a:gd name="adj" fmla="val 5882"/>
            </a:avLst>
          </a:prstGeom>
          <a:solidFill>
            <a:srgbClr val="212B2E"/>
          </a:solidFill>
          <a:ln/>
        </p:spPr>
      </p:sp>
      <p:sp>
        <p:nvSpPr>
          <p:cNvPr id="16" name="Text 12"/>
          <p:cNvSpPr/>
          <p:nvPr/>
        </p:nvSpPr>
        <p:spPr>
          <a:xfrm>
            <a:off x="4709160" y="342900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 add origin &lt;repo-url&gt;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7882128" y="3520440"/>
            <a:ext cx="1463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5033"/>
                </a:solidFill>
              </a:rPr>
              <a:t>→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8046720" y="1737360"/>
            <a:ext cx="3566160" cy="4114800"/>
          </a:xfrm>
          <a:prstGeom prst="roundRect">
            <a:avLst>
              <a:gd name="adj" fmla="val 2564"/>
            </a:avLst>
          </a:prstGeom>
          <a:solidFill>
            <a:srgbClr val="212B2E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321040" y="2011680"/>
            <a:ext cx="640080" cy="64008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2176272"/>
            <a:ext cx="310896" cy="31089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321040" y="27889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Push your commits</a:t>
            </a:r>
            <a:endParaRPr lang="en-US" sz="1550" dirty="0"/>
          </a:p>
        </p:txBody>
      </p:sp>
      <p:sp>
        <p:nvSpPr>
          <p:cNvPr id="22" name="Shape 17"/>
          <p:cNvSpPr/>
          <p:nvPr/>
        </p:nvSpPr>
        <p:spPr>
          <a:xfrm>
            <a:off x="8321040" y="3383280"/>
            <a:ext cx="3017520" cy="777240"/>
          </a:xfrm>
          <a:prstGeom prst="roundRect">
            <a:avLst>
              <a:gd name="adj" fmla="val 5882"/>
            </a:avLst>
          </a:prstGeom>
          <a:solidFill>
            <a:srgbClr val="212B2E"/>
          </a:solidFill>
          <a:ln/>
        </p:spPr>
      </p:sp>
      <p:sp>
        <p:nvSpPr>
          <p:cNvPr id="23" name="Text 18"/>
          <p:cNvSpPr/>
          <p:nvPr/>
        </p:nvSpPr>
        <p:spPr>
          <a:xfrm>
            <a:off x="8458200" y="342900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-u origin main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is just the nickname Git gives to your GitHub remote by default.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Workshop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CODE DOWN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Clone &amp; pull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65960"/>
            <a:ext cx="640080" cy="640080"/>
          </a:xfrm>
          <a:prstGeom prst="ellipse">
            <a:avLst/>
          </a:prstGeom>
          <a:solidFill>
            <a:srgbClr val="212B2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12140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116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clone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68680" y="274320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 full copy of a repository — including its entire history — for the very first time.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68680" y="3657600"/>
            <a:ext cx="4754880" cy="502920"/>
          </a:xfrm>
          <a:prstGeom prst="roundRect">
            <a:avLst>
              <a:gd name="adj" fmla="val 9091"/>
            </a:avLst>
          </a:prstGeom>
          <a:solidFill>
            <a:srgbClr val="212B2E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6576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&lt;repo-url&gt;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68680" y="43434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once, when you're joining a project for the first time.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217920" y="169164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212B2E"/>
          </a:solidFill>
          <a:ln/>
        </p:spPr>
      </p:sp>
      <p:sp>
        <p:nvSpPr>
          <p:cNvPr id="13" name="Shape 10"/>
          <p:cNvSpPr/>
          <p:nvPr/>
        </p:nvSpPr>
        <p:spPr>
          <a:xfrm>
            <a:off x="6537960" y="1965960"/>
            <a:ext cx="640080" cy="64008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08" y="2121408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360920" y="20116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pull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6537960" y="274320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and merge the newest commits from GitHub into your local branch.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6537960" y="3657600"/>
            <a:ext cx="4754880" cy="502920"/>
          </a:xfrm>
          <a:prstGeom prst="roundRect">
            <a:avLst>
              <a:gd name="adj" fmla="val 9091"/>
            </a:avLst>
          </a:prstGeom>
          <a:solidFill>
            <a:srgbClr val="2E393C"/>
          </a:solidFill>
          <a:ln/>
        </p:spPr>
      </p:sp>
      <p:sp>
        <p:nvSpPr>
          <p:cNvPr id="18" name="Text 14"/>
          <p:cNvSpPr/>
          <p:nvPr/>
        </p:nvSpPr>
        <p:spPr>
          <a:xfrm>
            <a:off x="6537960" y="36576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 origin main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6537960" y="43434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9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this often — especially before you start new work.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Workshop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TEAMS COLLABORATE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pull request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69164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004" y="2240280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8803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240280" y="246888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5033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2423160" y="2011680"/>
            <a:ext cx="1691640" cy="1463040"/>
          </a:xfrm>
          <a:prstGeom prst="roundRect">
            <a:avLst>
              <a:gd name="adj" fmla="val 5625"/>
            </a:avLst>
          </a:prstGeom>
          <a:solidFill>
            <a:srgbClr val="212B2E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9524" y="2240280"/>
            <a:ext cx="438912" cy="4389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423160" y="28803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114800" y="246888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5033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4297680" y="2011680"/>
            <a:ext cx="169164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4044" y="2240280"/>
            <a:ext cx="438912" cy="4389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297680" y="28803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5989320" y="246888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5033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6172200" y="2011680"/>
            <a:ext cx="1691640" cy="1463040"/>
          </a:xfrm>
          <a:prstGeom prst="roundRect">
            <a:avLst>
              <a:gd name="adj" fmla="val 5625"/>
            </a:avLst>
          </a:prstGeom>
          <a:solidFill>
            <a:srgbClr val="F05033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8564" y="2240280"/>
            <a:ext cx="438912" cy="43891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172200" y="28803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7863840" y="246888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5033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4"/>
          <p:cNvSpPr/>
          <p:nvPr/>
        </p:nvSpPr>
        <p:spPr>
          <a:xfrm>
            <a:off x="8046720" y="2011680"/>
            <a:ext cx="169164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3084" y="2240280"/>
            <a:ext cx="438912" cy="43891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046720" y="28803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9738360" y="246888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5033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Shape 17"/>
          <p:cNvSpPr/>
          <p:nvPr/>
        </p:nvSpPr>
        <p:spPr>
          <a:xfrm>
            <a:off x="9921240" y="2011680"/>
            <a:ext cx="1691640" cy="1463040"/>
          </a:xfrm>
          <a:prstGeom prst="roundRect">
            <a:avLst>
              <a:gd name="adj" fmla="val 5625"/>
            </a:avLst>
          </a:prstGeom>
          <a:solidFill>
            <a:srgbClr val="212B2E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7604" y="2240280"/>
            <a:ext cx="438912" cy="43891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9921240" y="28803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548640" y="37947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1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pull request (PR) asks the team: “Here's my branch — please review these changes before they join main.”</a:t>
            </a:r>
            <a:endParaRPr lang="en-US" sz="1400" dirty="0"/>
          </a:p>
        </p:txBody>
      </p:sp>
      <p:sp>
        <p:nvSpPr>
          <p:cNvPr id="28" name="Shape 20"/>
          <p:cNvSpPr/>
          <p:nvPr/>
        </p:nvSpPr>
        <p:spPr>
          <a:xfrm>
            <a:off x="548640" y="4489704"/>
            <a:ext cx="118872" cy="118872"/>
          </a:xfrm>
          <a:prstGeom prst="ellipse">
            <a:avLst/>
          </a:prstGeom>
          <a:solidFill>
            <a:srgbClr val="F05033"/>
          </a:solidFill>
          <a:ln/>
        </p:spPr>
      </p:sp>
      <p:sp>
        <p:nvSpPr>
          <p:cNvPr id="29" name="Text 21"/>
          <p:cNvSpPr/>
          <p:nvPr/>
        </p:nvSpPr>
        <p:spPr>
          <a:xfrm>
            <a:off x="822960" y="4315968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Opened from GitHub's web interface after you push a branch</a:t>
            </a:r>
            <a:endParaRPr lang="en-US" sz="1250" dirty="0"/>
          </a:p>
        </p:txBody>
      </p:sp>
      <p:sp>
        <p:nvSpPr>
          <p:cNvPr id="30" name="Shape 22"/>
          <p:cNvSpPr/>
          <p:nvPr/>
        </p:nvSpPr>
        <p:spPr>
          <a:xfrm>
            <a:off x="548640" y="5084064"/>
            <a:ext cx="118872" cy="118872"/>
          </a:xfrm>
          <a:prstGeom prst="ellipse">
            <a:avLst/>
          </a:prstGeom>
          <a:solidFill>
            <a:srgbClr val="F05033"/>
          </a:solidFill>
          <a:ln/>
        </p:spPr>
      </p:sp>
      <p:sp>
        <p:nvSpPr>
          <p:cNvPr id="31" name="Text 23"/>
          <p:cNvSpPr/>
          <p:nvPr/>
        </p:nvSpPr>
        <p:spPr>
          <a:xfrm>
            <a:off x="822960" y="4910328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a side-by-side diff of every changed line</a:t>
            </a:r>
            <a:endParaRPr lang="en-US" sz="1250" dirty="0"/>
          </a:p>
        </p:txBody>
      </p:sp>
      <p:sp>
        <p:nvSpPr>
          <p:cNvPr id="32" name="Shape 24"/>
          <p:cNvSpPr/>
          <p:nvPr/>
        </p:nvSpPr>
        <p:spPr>
          <a:xfrm>
            <a:off x="6126480" y="4489704"/>
            <a:ext cx="118872" cy="118872"/>
          </a:xfrm>
          <a:prstGeom prst="ellipse">
            <a:avLst/>
          </a:prstGeom>
          <a:solidFill>
            <a:srgbClr val="F05033"/>
          </a:solidFill>
          <a:ln/>
        </p:spPr>
      </p:sp>
      <p:sp>
        <p:nvSpPr>
          <p:cNvPr id="33" name="Text 25"/>
          <p:cNvSpPr/>
          <p:nvPr/>
        </p:nvSpPr>
        <p:spPr>
          <a:xfrm>
            <a:off x="6400800" y="4315968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Teammates leave comments and request changes before it's merged</a:t>
            </a:r>
            <a:endParaRPr lang="en-US" sz="1250" dirty="0"/>
          </a:p>
        </p:txBody>
      </p:sp>
      <p:sp>
        <p:nvSpPr>
          <p:cNvPr id="34" name="Shape 26"/>
          <p:cNvSpPr/>
          <p:nvPr/>
        </p:nvSpPr>
        <p:spPr>
          <a:xfrm>
            <a:off x="6126480" y="5084064"/>
            <a:ext cx="118872" cy="118872"/>
          </a:xfrm>
          <a:prstGeom prst="ellipse">
            <a:avLst/>
          </a:prstGeom>
          <a:solidFill>
            <a:srgbClr val="F05033"/>
          </a:solidFill>
          <a:ln/>
        </p:spPr>
      </p:sp>
      <p:sp>
        <p:nvSpPr>
          <p:cNvPr id="35" name="Text 27"/>
          <p:cNvSpPr/>
          <p:nvPr/>
        </p:nvSpPr>
        <p:spPr>
          <a:xfrm>
            <a:off x="6400800" y="4910328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approved, the branch is merged into main with one click</a:t>
            </a:r>
            <a:endParaRPr lang="en-US" sz="1250" dirty="0"/>
          </a:p>
        </p:txBody>
      </p:sp>
      <p:sp>
        <p:nvSpPr>
          <p:cNvPr id="36" name="Text 28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Workshop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Habits that will save you pain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1874520"/>
          </a:xfrm>
          <a:prstGeom prst="roundRect">
            <a:avLst>
              <a:gd name="adj" fmla="val 4878"/>
            </a:avLst>
          </a:prstGeom>
          <a:solidFill>
            <a:srgbClr val="2E393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0240"/>
            <a:ext cx="411480" cy="411480"/>
          </a:xfrm>
          <a:prstGeom prst="ellipse">
            <a:avLst/>
          </a:prstGeom>
          <a:solidFill>
            <a:srgbClr val="F0503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often, in small pieces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28803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7B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commit should represent one logical change — easier to review and undo.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1691640"/>
            <a:ext cx="3566160" cy="1874520"/>
          </a:xfrm>
          <a:prstGeom prst="roundRect">
            <a:avLst>
              <a:gd name="adj" fmla="val 4878"/>
            </a:avLst>
          </a:prstGeom>
          <a:solidFill>
            <a:srgbClr val="2E393C"/>
          </a:solidFill>
          <a:ln/>
        </p:spPr>
      </p:sp>
      <p:sp>
        <p:nvSpPr>
          <p:cNvPr id="10" name="Shape 8"/>
          <p:cNvSpPr/>
          <p:nvPr/>
        </p:nvSpPr>
        <p:spPr>
          <a:xfrm>
            <a:off x="4526280" y="1920240"/>
            <a:ext cx="411480" cy="411480"/>
          </a:xfrm>
          <a:prstGeom prst="ellipse">
            <a:avLst/>
          </a:prstGeom>
          <a:solidFill>
            <a:srgbClr val="F05033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1920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26280" y="24688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clear commit messages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26280" y="28803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7B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“Fix login bug on Safari” beats “update” or “fix stuff” every time.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1691640"/>
            <a:ext cx="3566160" cy="1874520"/>
          </a:xfrm>
          <a:prstGeom prst="roundRect">
            <a:avLst>
              <a:gd name="adj" fmla="val 4878"/>
            </a:avLst>
          </a:prstGeom>
          <a:solidFill>
            <a:srgbClr val="2E393C"/>
          </a:solidFill>
          <a:ln/>
        </p:spPr>
      </p:sp>
      <p:sp>
        <p:nvSpPr>
          <p:cNvPr id="15" name="Shape 13"/>
          <p:cNvSpPr/>
          <p:nvPr/>
        </p:nvSpPr>
        <p:spPr>
          <a:xfrm>
            <a:off x="8275320" y="1920240"/>
            <a:ext cx="411480" cy="411480"/>
          </a:xfrm>
          <a:prstGeom prst="ellipse">
            <a:avLst/>
          </a:prstGeom>
          <a:solidFill>
            <a:srgbClr val="F05033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1920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75320" y="24688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before you push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275320" y="28803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7B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with the remote first to avoid unnecessary conflicts.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794760"/>
            <a:ext cx="3566160" cy="1874520"/>
          </a:xfrm>
          <a:prstGeom prst="roundRect">
            <a:avLst>
              <a:gd name="adj" fmla="val 4878"/>
            </a:avLst>
          </a:prstGeom>
          <a:solidFill>
            <a:srgbClr val="2E393C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4023360"/>
            <a:ext cx="411480" cy="411480"/>
          </a:xfrm>
          <a:prstGeom prst="ellipse">
            <a:avLst/>
          </a:prstGeom>
          <a:solidFill>
            <a:srgbClr val="F05033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023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77240" y="45720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commit secrets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77240" y="49834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7B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and passwords belong in .gitignore, not in your history.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97680" y="3794760"/>
            <a:ext cx="3566160" cy="1874520"/>
          </a:xfrm>
          <a:prstGeom prst="roundRect">
            <a:avLst>
              <a:gd name="adj" fmla="val 4878"/>
            </a:avLst>
          </a:prstGeom>
          <a:solidFill>
            <a:srgbClr val="2E393C"/>
          </a:solidFill>
          <a:ln/>
        </p:spPr>
      </p:sp>
      <p:sp>
        <p:nvSpPr>
          <p:cNvPr id="25" name="Shape 23"/>
          <p:cNvSpPr/>
          <p:nvPr/>
        </p:nvSpPr>
        <p:spPr>
          <a:xfrm>
            <a:off x="4526280" y="4023360"/>
            <a:ext cx="411480" cy="411480"/>
          </a:xfrm>
          <a:prstGeom prst="ellipse">
            <a:avLst/>
          </a:prstGeom>
          <a:solidFill>
            <a:srgbClr val="F05033"/>
          </a:solidFill>
          <a:ln/>
        </p:spPr>
      </p:sp>
      <p:sp>
        <p:nvSpPr>
          <p:cNvPr id="26" name="Text 24"/>
          <p:cNvSpPr/>
          <p:nvPr/>
        </p:nvSpPr>
        <p:spPr>
          <a:xfrm>
            <a:off x="4526280" y="4023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26280" y="45720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branches for features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26280" y="49834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7B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main always in a working, deployable state.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46720" y="3794760"/>
            <a:ext cx="3566160" cy="1874520"/>
          </a:xfrm>
          <a:prstGeom prst="roundRect">
            <a:avLst>
              <a:gd name="adj" fmla="val 4878"/>
            </a:avLst>
          </a:prstGeom>
          <a:solidFill>
            <a:srgbClr val="2E393C"/>
          </a:solidFill>
          <a:ln/>
        </p:spPr>
      </p:sp>
      <p:sp>
        <p:nvSpPr>
          <p:cNvPr id="30" name="Shape 28"/>
          <p:cNvSpPr/>
          <p:nvPr/>
        </p:nvSpPr>
        <p:spPr>
          <a:xfrm>
            <a:off x="8275320" y="4023360"/>
            <a:ext cx="411480" cy="411480"/>
          </a:xfrm>
          <a:prstGeom prst="ellipse">
            <a:avLst/>
          </a:prstGeom>
          <a:solidFill>
            <a:srgbClr val="F05033"/>
          </a:solidFill>
          <a:ln/>
        </p:spPr>
      </p:sp>
      <p:sp>
        <p:nvSpPr>
          <p:cNvPr id="31" name="Text 29"/>
          <p:cNvSpPr/>
          <p:nvPr/>
        </p:nvSpPr>
        <p:spPr>
          <a:xfrm>
            <a:off x="8275320" y="4023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275320" y="45720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git status often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275320" y="49834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7B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fastest way to know exactly what Git is about to do.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Workshop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THIS HANDY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Command cheat sheet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5321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69164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4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383280" y="169164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tracking a new project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258568"/>
            <a:ext cx="5532120" cy="566928"/>
          </a:xfrm>
          <a:prstGeom prst="rect">
            <a:avLst/>
          </a:prstGeom>
          <a:solidFill>
            <a:srgbClr val="EFEFEC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258568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4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0" y="2258568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what's changed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825496"/>
            <a:ext cx="55321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825496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4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&lt;file&gt;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0" y="2825496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a file (or . for all)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392424"/>
            <a:ext cx="5532120" cy="566928"/>
          </a:xfrm>
          <a:prstGeom prst="rect">
            <a:avLst/>
          </a:prstGeom>
          <a:solidFill>
            <a:srgbClr val="EFEFEC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392424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4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"msg"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0" y="3392424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 snapshot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959352"/>
            <a:ext cx="55321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959352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4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83280" y="3959352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commit history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526280"/>
            <a:ext cx="5532120" cy="566928"/>
          </a:xfrm>
          <a:prstGeom prst="rect">
            <a:avLst/>
          </a:prstGeom>
          <a:solidFill>
            <a:srgbClr val="EFEFEC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52628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4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&lt;name&gt;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83280" y="452628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branch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355080" y="1691640"/>
            <a:ext cx="55321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169164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4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-b &lt;name&gt;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89720" y="169164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+ switch to a branch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355080" y="2258568"/>
            <a:ext cx="5532120" cy="566928"/>
          </a:xfrm>
          <a:prstGeom prst="rect">
            <a:avLst/>
          </a:prstGeom>
          <a:solidFill>
            <a:srgbClr val="EFEFEC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2258568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4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 &lt;branch&gt;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89720" y="2258568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a branch into current one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355080" y="2825496"/>
            <a:ext cx="55321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6492240" y="2825496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4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 add origin &lt;url&gt;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189720" y="2825496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to a GitHub repo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355080" y="3392424"/>
            <a:ext cx="5532120" cy="566928"/>
          </a:xfrm>
          <a:prstGeom prst="rect">
            <a:avLst/>
          </a:prstGeom>
          <a:solidFill>
            <a:srgbClr val="EFEFEC"/>
          </a:solidFill>
          <a:ln/>
        </p:spPr>
      </p:sp>
      <p:sp>
        <p:nvSpPr>
          <p:cNvPr id="32" name="Text 30"/>
          <p:cNvSpPr/>
          <p:nvPr/>
        </p:nvSpPr>
        <p:spPr>
          <a:xfrm>
            <a:off x="6492240" y="3392424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4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-u origin main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189720" y="3392424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commits to GitHub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355080" y="3959352"/>
            <a:ext cx="55321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6492240" y="3959352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4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&lt;url&gt;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189720" y="3959352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 repo for the first time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355080" y="4526280"/>
            <a:ext cx="5532120" cy="566928"/>
          </a:xfrm>
          <a:prstGeom prst="rect">
            <a:avLst/>
          </a:prstGeom>
          <a:solidFill>
            <a:srgbClr val="EFEFEC"/>
          </a:solidFill>
          <a:ln/>
        </p:spPr>
      </p:sp>
      <p:sp>
        <p:nvSpPr>
          <p:cNvPr id="38" name="Text 36"/>
          <p:cNvSpPr/>
          <p:nvPr/>
        </p:nvSpPr>
        <p:spPr>
          <a:xfrm>
            <a:off x="6492240" y="452628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4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189720" y="452628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&amp; merge latest changes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Workshop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12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2E393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82296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6916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822960" y="2331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5-minute hands-on challenge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3017520"/>
            <a:ext cx="365760" cy="365760"/>
          </a:xfrm>
          <a:prstGeom prst="ellipse">
            <a:avLst/>
          </a:prstGeom>
          <a:solidFill>
            <a:srgbClr val="2E393C"/>
          </a:solidFill>
          <a:ln w="19050">
            <a:solidFill>
              <a:srgbClr val="F050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5033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325880" y="2990088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folder and run git init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22960" y="3547872"/>
            <a:ext cx="365760" cy="365760"/>
          </a:xfrm>
          <a:prstGeom prst="ellipse">
            <a:avLst/>
          </a:prstGeom>
          <a:solidFill>
            <a:srgbClr val="2E393C"/>
          </a:solidFill>
          <a:ln w="19050">
            <a:solidFill>
              <a:srgbClr val="F050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35478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5033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325880" y="35204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README.md file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22960" y="4078224"/>
            <a:ext cx="365760" cy="365760"/>
          </a:xfrm>
          <a:prstGeom prst="ellipse">
            <a:avLst/>
          </a:prstGeom>
          <a:solidFill>
            <a:srgbClr val="2E393C"/>
          </a:solidFill>
          <a:ln w="19050">
            <a:solidFill>
              <a:srgbClr val="F050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40782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5033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325880" y="4050792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add, then git commit with a real message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22960" y="4608576"/>
            <a:ext cx="365760" cy="365760"/>
          </a:xfrm>
          <a:prstGeom prst="ellipse">
            <a:avLst/>
          </a:prstGeom>
          <a:solidFill>
            <a:srgbClr val="2E393C"/>
          </a:solidFill>
          <a:ln w="19050">
            <a:solidFill>
              <a:srgbClr val="F050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" y="46085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5033"/>
                </a:solidFill>
              </a:rPr>
              <a:t>4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325880" y="4581144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GitHub repo and push your project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22960" y="5138928"/>
            <a:ext cx="365760" cy="365760"/>
          </a:xfrm>
          <a:prstGeom prst="ellipse">
            <a:avLst/>
          </a:prstGeom>
          <a:solidFill>
            <a:srgbClr val="2E393C"/>
          </a:solidFill>
          <a:ln w="19050">
            <a:solidFill>
              <a:srgbClr val="F0503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2960" y="5138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5033"/>
                </a:solidFill>
              </a:rPr>
              <a:t>5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325880" y="5111496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branch, edit a file, and open a pull request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22960" y="5943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B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Refer back to your handout for the full command reference.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Workshop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&amp; GitHub for Beginners</dc:title>
  <dc:subject>PptxGenJS Presentation</dc:subject>
  <dc:creator>Git &amp; GitHub Workshop</dc:creator>
  <cp:lastModifiedBy>Git &amp; GitHub Workshop</cp:lastModifiedBy>
  <cp:revision>1</cp:revision>
  <dcterms:created xsi:type="dcterms:W3CDTF">2026-07-05T16:44:32Z</dcterms:created>
  <dcterms:modified xsi:type="dcterms:W3CDTF">2026-07-05T16:44:32Z</dcterms:modified>
</cp:coreProperties>
</file>